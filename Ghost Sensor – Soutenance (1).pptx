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041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(≈30 s) : se présenter tous les deux, rappeler le module Jumeaux numériques encadré par M. Gerin, et annoncer le sujet : Ghost Sensor, une plateforme qui surveille les capteurs d'un vrai bâtiment et remplace ceux qui tombent en panne.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Annoncer le plan en six parties (≈20 s). Le cœur de la présentation : les parties 3 et 4, avec les captures du tableau de bord et des workflows n8n.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bâtiment et les trois sources de données réelles (≈45 s). Insister : rien n'est inventé, tout part des fichiers du bâtiment.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chiffres viennent de l'historique réel (≈1 min). Quand ça arrive, l'opérateur ne sait pas si c'est un capteur, une passerelle réseau ou toute la chaîne de données. Finir sur la question qui guide tout le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quatre objectifs (≈45 s). Chacun correspond à une partie de la démo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Lire le schéma de gauche à droite (≈1 min). Le backend est le cerveau, n8n orchestre les agents, le tableau de bord restitue. Préciser le mode replay : les données historiques sont rejouées à 60 fois la vitesse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Passer vite (≈30 s) : une couche par ligne. Les agents tournent en mode déterministe ; un modèle de langage est optionnel.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chaîne des quatre agents (≈1 min). Chaque agent correspond à un workflow n8n. Mentionner le workflow E pour les erreurs et le repli local après 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Première page du tableau de bord (≈40 s). Les valeurs inférées ne sont jamais mélangées aux mesures réelles.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jumeau numérique (≈50 s). Rien n'est inventé : chaque lien porte sa longueur de mur partagé ou son nombre de portes. Montrer la salle 02-14-N, utilisée plus tard dans la démonstration.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liste des capteurs (≈40 s). Exemple : filtrer les sondes qui n'envoient que des valeurs invalides ; on retrouve les 3 sondes jamais valides, traitées en capteurs virtuels dès le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cœur ML du projet (≈1 min 15). Scores mesurés sur les données de test de mai et juin. Être honnête sur les limites : pour les pannes très courtes, répéter la dernière valeur est un peu plus précis ; la page de validation le montre.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vraie panne du 3 mars (≈1 min). Le rapport (agent 2) se télécharge en Markdown ou PDF. Seule une personne peut confirmer ou rejeter une cause ; rien n'est jamais exécuté sur les systèmes du bâtiment.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centre d'investigation (≈45 s). Pour la panne du 3 mars, l'hypothèse en tête est une panne du pipeline de données ou de l'acquisition GTB. Tout résultat automatique est signalé comme 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Deux pages d'analyse (≈50 s). Le contrôle CSV détecte le format et le fuseau horaire, puis vérifie doublons, trous, valeurs hors plage, pics, valeurs figées, salles inconnues, et compare avec l'historique de la plateforme.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 du tour du tableau de bord (≈45 s). La page santé montre la carte d'orchestration n8n : dernier appel reçu, incidents en attente, délai du repli. L'assistant fonctionne sans clé d'IA en mode intégré ; avec une clé, il traite toute question libre.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Passage à l'automatisation (≈40 s). A appelle l'agent 1 puis distribue les incidents ; B, C, D lancent chacun un agent et vérifient sa sortie ; E remonte les erreurs.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workflow principal (≈1 min). Le nœud Config contient l'adresse du backend, jointe depuis WSL par l'IP de l'hôte Windows. La réservation est atomique : un incident n'est jamais traité deux fois, même si le repli du backend tourne aussi.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sous-workflows (≈1 min). Même schéma partout : lancer l'agent, vérifier sa sortie, passer au suivant ou signaler l'erreur. On ne propage jamais de mauvaises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 est déclaré comme workflow d'erreur de A à D (≈45 s). Côté tableau de bord, chaque passage d'agent porte l'identifiant d'exécution n8n : on remonte de l'incident jusqu'au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choix de sécurité et de robustesse (≈45 s). Insister : n8n peut tomber, la surveillance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scénario complet (≈1 min 30). Si le temps le permet, montrer la vidéo de démonstration. La panne est simulée par-dessus les vraies données : tout ce qu'elle cause est marqué SIMULATED, et la vraie valeur reste connue pour comparer l'estimation. Incident moyen : alerte sur le tableau de bord uniquement, l'email est réservé aux incidents plus graves.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bilan (≈1 min). Reprendre la question de départ et montrer qu'on y répond : visibilité conservée grâce aux capteurs virtuels, et cause expliquée grâce aux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suites possibles (≈1 min). Ce sont des pistes, pas des fonctionnalités existantes : le temps réel et l'envoi SMTP sont les plus directs, l'architecture les prévoit déjà.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Remercier le jury et M. Gerin, puis ouvrir les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43708"/>
            <a:ext cx="10566400" cy="4301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background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43708"/>
            <a:ext cx="10566400" cy="4301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566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43708"/>
            <a:ext cx="10566400" cy="4301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5B47D6"/>
          </a:solidFill>
          <a:ln/>
        </p:spPr>
      </p:sp>
      <p:sp>
        <p:nvSpPr>
          <p:cNvPr id="3" name="Text 1"/>
          <p:cNvSpPr/>
          <p:nvPr/>
        </p:nvSpPr>
        <p:spPr>
          <a:xfrm>
            <a:off x="8794750" y="717550"/>
            <a:ext cx="2578100" cy="1054100"/>
          </a:xfrm>
          <a:prstGeom prst="roundRect">
            <a:avLst>
              <a:gd name="adj" fmla="val 9036"/>
            </a:avLst>
          </a:prstGeom>
          <a:noFill/>
          <a:ln w="12700">
            <a:solidFill>
              <a:srgbClr val="8E85C9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Logo ESEO ]</a:t>
            </a:r>
            <a:endParaRPr lang="en-US" sz="1400" dirty="0"/>
          </a:p>
        </p:txBody>
      </p:sp>
      <p:pic>
        <p:nvPicPr>
          <p:cNvPr id="4" name="Image 0" descr="Logo Ghost Sensor : un petit fantôme violet"/>
          <p:cNvPicPr>
            <a:picLocks noChangeAspect="1"/>
          </p:cNvPicPr>
          <p:nvPr/>
        </p:nvPicPr>
        <p:blipFill>
          <a:blip r:embed="rId3">
            <a:alphaModFix amt="90000"/>
          </a:blip>
          <a:srcRect/>
          <a:stretch/>
        </p:blipFill>
        <p:spPr>
          <a:xfrm>
            <a:off x="9220200" y="2540000"/>
            <a:ext cx="1778000" cy="1778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711200"/>
            <a:ext cx="7717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 JUMEAUX NUMÉRIQUES · ESEO</a:t>
            </a:r>
            <a:endParaRPr lang="en-US" sz="1400" dirty="0"/>
          </a:p>
        </p:txBody>
      </p:sp>
      <p:sp>
        <p:nvSpPr>
          <p:cNvPr id="6" name="Text 3"/>
          <p:cNvSpPr>
            <a:spLocks noGrp="1"/>
          </p:cNvSpPr>
          <p:nvPr>
            <p:ph type="title"/>
          </p:nvPr>
        </p:nvSpPr>
        <p:spPr>
          <a:xfrm>
            <a:off x="812800" y="1112520"/>
            <a:ext cx="7717790" cy="977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500"/>
              </a:lnSpc>
              <a:buNone/>
            </a:pPr>
            <a:r>
              <a:rPr lang="en-US" sz="7500" b="1" i="0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</a:t>
            </a:r>
            <a:endParaRPr lang="en-US" sz="7500" dirty="0"/>
          </a:p>
        </p:txBody>
      </p:sp>
      <p:sp>
        <p:nvSpPr>
          <p:cNvPr id="7" name="Text 4"/>
          <p:cNvSpPr/>
          <p:nvPr/>
        </p:nvSpPr>
        <p:spPr>
          <a:xfrm>
            <a:off x="812800" y="2217420"/>
            <a:ext cx="77177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DAD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Jumeau numérique, capteurs virtuels par machine learning et gestion multi-agents des incidents du Campus Métropolitain Dijon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998709" y="3216435"/>
            <a:ext cx="0" cy="441960"/>
          </a:xfrm>
          <a:prstGeom prst="line">
            <a:avLst/>
          </a:prstGeom>
          <a:noFill/>
          <a:ln w="25400">
            <a:solidFill>
              <a:srgbClr val="F0A4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44041" y="3282475"/>
            <a:ext cx="1374228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RÉALISÉ PAR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11443" y="5693933"/>
            <a:ext cx="1996683" cy="284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20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Ghassen Kahia 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9235354" y="5118100"/>
            <a:ext cx="0" cy="883920"/>
          </a:xfrm>
          <a:prstGeom prst="line">
            <a:avLst/>
          </a:prstGeom>
          <a:noFill/>
          <a:ln w="25400">
            <a:solidFill>
              <a:srgbClr val="F0A43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399438" y="5143500"/>
            <a:ext cx="199668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ENCADRÉ PAR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99438" y="5407660"/>
            <a:ext cx="1996684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Sébastien GERIN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909062" y="6375101"/>
            <a:ext cx="203174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ANNÉE UNIVERSITAIRE :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987788" y="6317728"/>
            <a:ext cx="2031741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– 2027</a:t>
            </a:r>
            <a:endParaRPr lang="en-US" sz="1400" dirty="0"/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386916F3-3136-0BA9-B0AC-D788BF6C3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5050" y="692150"/>
            <a:ext cx="2857500" cy="11049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9" name="Ellipse 18">
            <a:extLst>
              <a:ext uri="{FF2B5EF4-FFF2-40B4-BE49-F238E27FC236}">
                <a16:creationId xmlns:a16="http://schemas.microsoft.com/office/drawing/2014/main" id="{2A00644A-1466-83A3-9B9F-C1B2BA20AD30}"/>
              </a:ext>
            </a:extLst>
          </p:cNvPr>
          <p:cNvSpPr/>
          <p:nvPr/>
        </p:nvSpPr>
        <p:spPr>
          <a:xfrm>
            <a:off x="4551828" y="3768266"/>
            <a:ext cx="1708166" cy="1731309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E809356-C0F8-B816-AE57-DE261352DADD}"/>
              </a:ext>
            </a:extLst>
          </p:cNvPr>
          <p:cNvSpPr/>
          <p:nvPr/>
        </p:nvSpPr>
        <p:spPr>
          <a:xfrm>
            <a:off x="1409387" y="3784561"/>
            <a:ext cx="1834654" cy="1764329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2F8C427-A12F-6878-884B-B06E76F44756}"/>
              </a:ext>
            </a:extLst>
          </p:cNvPr>
          <p:cNvSpPr txBox="1"/>
          <p:nvPr/>
        </p:nvSpPr>
        <p:spPr>
          <a:xfrm>
            <a:off x="4057130" y="5651750"/>
            <a:ext cx="2895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Nasrallah Belhaj Fraj</a:t>
            </a:r>
            <a:endParaRPr lang="LID409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PRÉSENTATION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60"/>
            <a:ext cx="10883392" cy="55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88490"/>
            <a:ext cx="5283200" cy="0"/>
          </a:xfrm>
          <a:prstGeom prst="line">
            <a:avLst/>
          </a:prstGeom>
          <a:noFill/>
          <a:ln w="12700">
            <a:solidFill>
              <a:srgbClr val="3A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072132"/>
            <a:ext cx="4779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4272" y="2072132"/>
            <a:ext cx="344789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et problématique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4272" y="2384552"/>
            <a:ext cx="29594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bâtiment, ses pannes, nos objectifs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6000" y="1888490"/>
            <a:ext cx="5283200" cy="0"/>
          </a:xfrm>
          <a:prstGeom prst="line">
            <a:avLst/>
          </a:prstGeom>
          <a:noFill/>
          <a:ln w="12700">
            <a:solidFill>
              <a:srgbClr val="3A3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0" y="2072132"/>
            <a:ext cx="4779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697472" y="2072132"/>
            <a:ext cx="344789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 la solution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97472" y="2384552"/>
            <a:ext cx="295944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Sources, stack technique, quatre agents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2604262"/>
            <a:ext cx="5283200" cy="0"/>
          </a:xfrm>
          <a:prstGeom prst="line">
            <a:avLst/>
          </a:prstGeom>
          <a:noFill/>
          <a:ln w="12700">
            <a:solidFill>
              <a:srgbClr val="3A3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2787903"/>
            <a:ext cx="4779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414272" y="2787903"/>
            <a:ext cx="2800381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tableau de bord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4272" y="3100324"/>
            <a:ext cx="326257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fonctionnalités, en captures d'écran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6000" y="2604262"/>
            <a:ext cx="5283200" cy="0"/>
          </a:xfrm>
          <a:prstGeom prst="line">
            <a:avLst/>
          </a:prstGeom>
          <a:noFill/>
          <a:ln w="12700">
            <a:solidFill>
              <a:srgbClr val="3A35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6000" y="2787903"/>
            <a:ext cx="4779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697472" y="2787903"/>
            <a:ext cx="2427833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L'orchestration n8n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97472" y="3100324"/>
            <a:ext cx="282854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cinq workflows et leur sécurité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3320034"/>
            <a:ext cx="5283200" cy="0"/>
          </a:xfrm>
          <a:prstGeom prst="line">
            <a:avLst/>
          </a:prstGeom>
          <a:noFill/>
          <a:ln w="12700">
            <a:solidFill>
              <a:srgbClr val="3A35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3503676"/>
            <a:ext cx="4779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414272" y="3503676"/>
            <a:ext cx="2557597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Démonstration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4272" y="3816096"/>
            <a:ext cx="29797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panne simulée, de bout en bout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96000" y="3320034"/>
            <a:ext cx="5283200" cy="0"/>
          </a:xfrm>
          <a:prstGeom prst="line">
            <a:avLst/>
          </a:prstGeom>
          <a:noFill/>
          <a:ln w="12700">
            <a:solidFill>
              <a:srgbClr val="3A35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6000" y="3503676"/>
            <a:ext cx="4779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697472" y="3503676"/>
            <a:ext cx="355031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et perspectives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697472" y="3816096"/>
            <a:ext cx="30473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et suites possibles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E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0" y="6234176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E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r>
              <a:rPr lang="en-US" sz="1200" dirty="0">
                <a:solidFill>
                  <a:srgbClr val="8E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CONTEXTE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9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bâtiment réel, entièrement instrumenté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43709"/>
            <a:ext cx="405511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</a:t>
            </a:r>
            <a:r>
              <a:rPr lang="en-US" sz="1600" b="1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Métropolitain Dijon</a:t>
            </a:r>
            <a:r>
              <a:rPr lang="en-US" sz="16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partagé par l'ESEO et l'ESTP, est équipé d'une GTB (gestion technique du bâtiment) qui relève en continu des centaines de capteurs.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394709"/>
            <a:ext cx="4055110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sommes partis de ses </a:t>
            </a:r>
            <a:r>
              <a:rPr lang="en-US" sz="1600" b="1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réelles</a:t>
            </a:r>
            <a:r>
              <a:rPr lang="en-US" sz="16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la maquette IFC, le classeur des équipements MSI et les exports CSV de la GTB.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210175" y="1746884"/>
            <a:ext cx="2990850" cy="1840738"/>
          </a:xfrm>
          <a:prstGeom prst="roundRect">
            <a:avLst>
              <a:gd name="adj" fmla="val 5347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14264" y="1950974"/>
            <a:ext cx="266015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14264" y="2458974"/>
            <a:ext cx="26601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salles reconstruites depuis la maquette IFC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385175" y="1746884"/>
            <a:ext cx="2990850" cy="1840738"/>
          </a:xfrm>
          <a:prstGeom prst="roundRect">
            <a:avLst>
              <a:gd name="adj" fmla="val 5347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89264" y="1950974"/>
            <a:ext cx="266015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618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8589264" y="2458974"/>
            <a:ext cx="2660152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capteurs, en 7 familles : température, CO₂, humidité, éclairage, occupation, énergie, eau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10175" y="3771773"/>
            <a:ext cx="2990850" cy="1378458"/>
          </a:xfrm>
          <a:prstGeom prst="roundRect">
            <a:avLst>
              <a:gd name="adj" fmla="val 7140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4264" y="3975861"/>
            <a:ext cx="266015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414264" y="4483861"/>
            <a:ext cx="26601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étages, 387 espaces IFC et 498 portes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385175" y="3771773"/>
            <a:ext cx="2990850" cy="1378458"/>
          </a:xfrm>
          <a:prstGeom prst="roundRect">
            <a:avLst>
              <a:gd name="adj" fmla="val 7140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89264" y="3975861"/>
            <a:ext cx="266015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mois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589264" y="4483861"/>
            <a:ext cx="266015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d'historique réel, de janvier à juin 2026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6234176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B3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D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PROBLÉMATIQUE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9"/>
            <a:ext cx="10883392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capteurs tombent en panne, sans qu'on sache pourquoi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2343277"/>
            <a:ext cx="3352800" cy="0"/>
          </a:xfrm>
          <a:prstGeom prst="line">
            <a:avLst/>
          </a:prstGeom>
          <a:noFill/>
          <a:ln w="19050">
            <a:solidFill>
              <a:srgbClr val="F0A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2527807"/>
            <a:ext cx="345338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 h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12800" y="3366007"/>
            <a:ext cx="3453384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D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3 mars 2026, toutes les sondes de température et de CO₂ se taisent, alors que les compteurs d'énergie continuent d'émettre.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19600" y="2343277"/>
            <a:ext cx="3352800" cy="0"/>
          </a:xfrm>
          <a:prstGeom prst="line">
            <a:avLst/>
          </a:prstGeom>
          <a:noFill/>
          <a:ln w="19050">
            <a:solidFill>
              <a:srgbClr val="F0A4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19600" y="2527807"/>
            <a:ext cx="345338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75×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419600" y="3366007"/>
            <a:ext cx="3453384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D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31 salles du rez-de-chaussée deviennent muettes ensemble, 75 fois en 60 jours.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26400" y="2343277"/>
            <a:ext cx="3352800" cy="0"/>
          </a:xfrm>
          <a:prstGeom prst="line">
            <a:avLst/>
          </a:prstGeom>
          <a:noFill/>
          <a:ln w="19050">
            <a:solidFill>
              <a:srgbClr val="F0A4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26400" y="2527807"/>
            <a:ext cx="345338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026400" y="3366007"/>
            <a:ext cx="3453384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4D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sondes de température n'ont jamais envoyé une seule valeur valide.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818379"/>
            <a:ext cx="10566400" cy="1023620"/>
          </a:xfrm>
          <a:prstGeom prst="roundRect">
            <a:avLst>
              <a:gd name="adj" fmla="val 9926"/>
            </a:avLst>
          </a:prstGeom>
          <a:solidFill>
            <a:srgbClr val="3A2AA6"/>
          </a:solidFill>
          <a:ln/>
        </p:spPr>
        <p:txBody>
          <a:bodyPr wrap="square" lIns="224242" tIns="173442" rIns="0" bIns="148042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question :</a:t>
            </a:r>
            <a:r>
              <a:rPr lang="en-US" sz="1800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comment garder la visibilité sur le bâtiment quand ses capteurs se taisent, et comprendre rapidement d'où vient la panne 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4C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4C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r>
              <a:rPr lang="en-US" sz="1200" dirty="0">
                <a:solidFill>
                  <a:srgbClr val="D4C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OBJECTIFS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objectifs pour une seule plateforme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97686"/>
            <a:ext cx="2482850" cy="2336038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pic>
        <p:nvPicPr>
          <p:cNvPr id="5" name="Image 0" descr="Hom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0064" y="2052572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064" y="2535172"/>
            <a:ext cx="21369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Jumeau numérique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20064" y="2921254"/>
            <a:ext cx="213691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Reconstruire la topologie du bâtiment depuis la maquette IFC : salles, murs partagés, portes, étages.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508375" y="1797686"/>
            <a:ext cx="2482850" cy="2336038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pic>
        <p:nvPicPr>
          <p:cNvPr id="9" name="Image 1" descr="Activity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12464" y="2052572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12464" y="2535172"/>
            <a:ext cx="21369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Capteurs virtuels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712464" y="2921254"/>
            <a:ext cx="213691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Remplacer une sonde muette par une estimation de machine learning, clairement signalée.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00775" y="1797686"/>
            <a:ext cx="2482850" cy="2336038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pic>
        <p:nvPicPr>
          <p:cNvPr id="13" name="Image 2" descr="Users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04864" y="2052572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4864" y="2535172"/>
            <a:ext cx="21369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d'incident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404864" y="2921254"/>
            <a:ext cx="2136912" cy="982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Détecter, documenter, expliquer et signaler chaque incident avec quatre agents.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893175" y="1797686"/>
            <a:ext cx="2482850" cy="2336038"/>
          </a:xfrm>
          <a:prstGeom prst="roundRect">
            <a:avLst>
              <a:gd name="adj" fmla="val 4213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pic>
        <p:nvPicPr>
          <p:cNvPr id="17" name="Image 3" descr="Settings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97264" y="2052572"/>
            <a:ext cx="355600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97264" y="2535172"/>
            <a:ext cx="2136912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9097264" y="2921254"/>
            <a:ext cx="2136912" cy="743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Automatiser la chaîne avec n8n et tout restituer dans un tableau de bord web.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ARCHITECTURE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61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données brutes aux incidents expliqués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642111"/>
            <a:ext cx="22891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5975" y="1960243"/>
            <a:ext cx="2216150" cy="682498"/>
          </a:xfrm>
          <a:prstGeom prst="roundRect">
            <a:avLst>
              <a:gd name="adj" fmla="val 12560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088133"/>
            <a:ext cx="19668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 IFC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9264" y="2301494"/>
            <a:ext cx="19668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espaces, étages, portes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2750691"/>
            <a:ext cx="2216150" cy="682498"/>
          </a:xfrm>
          <a:prstGeom prst="roundRect">
            <a:avLst>
              <a:gd name="adj" fmla="val 12560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2878581"/>
            <a:ext cx="19668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Classeur MSI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9264" y="3091942"/>
            <a:ext cx="20596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équipements → passerelles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5975" y="3541139"/>
            <a:ext cx="2216150" cy="682498"/>
          </a:xfrm>
          <a:prstGeom prst="roundRect">
            <a:avLst>
              <a:gd name="adj" fmla="val 12560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3669029"/>
            <a:ext cx="19668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Exports CSV GTB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9264" y="3882389"/>
            <a:ext cx="19668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familles de capteurs</a:t>
            </a:r>
            <a:endParaRPr lang="en-US" sz="1200" dirty="0"/>
          </a:p>
        </p:txBody>
      </p:sp>
      <p:pic>
        <p:nvPicPr>
          <p:cNvPr id="14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62300" y="2845560"/>
            <a:ext cx="304800" cy="177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594100" y="1823972"/>
            <a:ext cx="22891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TRAITEMENT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97275" y="2142108"/>
            <a:ext cx="2216150" cy="895858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50564" y="2269998"/>
            <a:ext cx="19668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topologique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750564" y="2483358"/>
            <a:ext cx="19668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adjacence par la géométrie : murs, portes, planchers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597275" y="3145917"/>
            <a:ext cx="2216150" cy="895858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50564" y="3273806"/>
            <a:ext cx="19668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Historique SQLite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750564" y="3487164"/>
            <a:ext cx="19668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dédoublonné, pas de 15 min</a:t>
            </a:r>
            <a:endParaRPr lang="en-US" sz="1200" dirty="0"/>
          </a:p>
        </p:txBody>
      </p:sp>
      <p:pic>
        <p:nvPicPr>
          <p:cNvPr id="22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3600" y="2845560"/>
            <a:ext cx="304800" cy="1778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375400" y="1709164"/>
            <a:ext cx="22891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CŒUR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381750" y="2030475"/>
            <a:ext cx="2209800" cy="1119124"/>
          </a:xfrm>
          <a:prstGeom prst="roundRect">
            <a:avLst>
              <a:gd name="adj" fmla="val 7376"/>
            </a:avLst>
          </a:prstGeom>
          <a:solidFill>
            <a:srgbClr val="EDEAFF"/>
          </a:solidFill>
          <a:ln w="12700">
            <a:solidFill>
              <a:srgbClr val="5B47D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39992" y="2163316"/>
            <a:ext cx="19501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FastAPI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6539992" y="2376677"/>
            <a:ext cx="1950116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horloge de replay, détection, capteur virtuel ML, 4 agents, assistant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378575" y="3260725"/>
            <a:ext cx="2216150" cy="895858"/>
          </a:xfrm>
          <a:prstGeom prst="roundRect">
            <a:avLst>
              <a:gd name="adj" fmla="val 9569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531864" y="3388612"/>
            <a:ext cx="19668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(WSL)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6531864" y="3601972"/>
            <a:ext cx="196685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A → D, et E pour les erreurs</a:t>
            </a:r>
            <a:endParaRPr lang="en-US" sz="1200" dirty="0"/>
          </a:p>
        </p:txBody>
      </p:sp>
      <p:pic>
        <p:nvPicPr>
          <p:cNvPr id="30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2845560"/>
            <a:ext cx="304800" cy="1778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9156700" y="1922525"/>
            <a:ext cx="228917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RESTITUTION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9163050" y="2243835"/>
            <a:ext cx="2209800" cy="905764"/>
          </a:xfrm>
          <a:prstGeom prst="roundRect">
            <a:avLst>
              <a:gd name="adj" fmla="val 9114"/>
            </a:avLst>
          </a:prstGeom>
          <a:solidFill>
            <a:srgbClr val="EDEAFF"/>
          </a:solidFill>
          <a:ln w="12700">
            <a:solidFill>
              <a:srgbClr val="5B47D6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321292" y="2376677"/>
            <a:ext cx="195011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 React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9321292" y="2803398"/>
            <a:ext cx="19501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pages et un assistant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9159875" y="3260725"/>
            <a:ext cx="2216150" cy="682498"/>
          </a:xfrm>
          <a:prstGeom prst="roundRect">
            <a:avLst>
              <a:gd name="adj" fmla="val 12560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9313164" y="3388612"/>
            <a:ext cx="19668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email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9313164" y="3601972"/>
            <a:ext cx="196685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test : boîte d'envoi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812800" y="4430012"/>
            <a:ext cx="10566400" cy="434340"/>
          </a:xfrm>
          <a:prstGeom prst="roundRect">
            <a:avLst>
              <a:gd name="adj" fmla="val 17544"/>
            </a:avLst>
          </a:prstGeom>
          <a:solidFill>
            <a:srgbClr val="ECEAF5"/>
          </a:solidFill>
          <a:ln/>
        </p:spPr>
        <p:txBody>
          <a:bodyPr wrap="square" lIns="130082" tIns="79282" rIns="0" bIns="538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données s'arrêtent fin juin 2026 : la plateforme les </a:t>
            </a:r>
            <a:r>
              <a:rPr lang="en-US" sz="1300" b="1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rejoue</a:t>
            </a:r>
            <a:r>
              <a:rPr lang="en-US" sz="13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comme en direct (×60), et l'écran affiche toujours </a:t>
            </a:r>
            <a:r>
              <a:rPr lang="en-US" sz="1300" b="1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</a:t>
            </a:r>
            <a:r>
              <a:rPr lang="en-US" sz="13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STACK TECHNIQUE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technologies, couche par couche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43708"/>
            <a:ext cx="10566400" cy="3693160"/>
          </a:xfrm>
          <a:prstGeom prst="roundRect">
            <a:avLst>
              <a:gd name="adj" fmla="val 275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43708"/>
            <a:ext cx="10566400" cy="3693160"/>
          </a:xfrm>
          <a:custGeom>
            <a:avLst/>
            <a:gdLst/>
            <a:ahLst/>
            <a:cxnLst/>
            <a:rect l="l" t="t" r="r" b="b"/>
            <a:pathLst>
              <a:path w="10566400" h="3693160">
                <a:moveTo>
                  <a:pt x="10464800" y="0"/>
                </a:moveTo>
                <a:lnTo>
                  <a:pt x="10464800" y="0"/>
                </a:lnTo>
                <a:arcTo wR="101600" hR="101600" stAng="16200000" swAng="5400000"/>
                <a:lnTo>
                  <a:pt x="10566400" y="3591560"/>
                </a:lnTo>
                <a:arcTo wR="101600" hR="101600" stAng="0" swAng="5400000"/>
                <a:lnTo>
                  <a:pt x="101600" y="3693160"/>
                </a:lnTo>
                <a:arcTo wR="101600" hR="101600" stAng="5400000" swAng="5400000"/>
                <a:lnTo>
                  <a:pt x="0" y="3591560"/>
                </a:lnTo>
                <a:arcTo wR="101600" hR="95250" stAng="10800000" swAng="-5400000"/>
                <a:lnTo>
                  <a:pt x="10464800" y="3686810"/>
                </a:lnTo>
                <a:arcTo wR="95250" hR="95250" stAng="5400000" swAng="-5400000"/>
                <a:lnTo>
                  <a:pt x="10560050" y="101600"/>
                </a:lnTo>
                <a:arcTo wR="95250" hR="101600" stAng="0" swAng="-5400000"/>
                <a:close/>
              </a:path>
            </a:pathLst>
          </a:custGeom>
          <a:solidFill>
            <a:srgbClr val="E1DEEE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1743708"/>
            <a:ext cx="10566400" cy="3693160"/>
          </a:xfrm>
          <a:custGeom>
            <a:avLst/>
            <a:gdLst/>
            <a:ahLst/>
            <a:cxnLst/>
            <a:rect l="l" t="t" r="r" b="b"/>
            <a:pathLst>
              <a:path w="10566400" h="3693160">
                <a:moveTo>
                  <a:pt x="101600" y="3693160"/>
                </a:moveTo>
                <a:lnTo>
                  <a:pt x="101600" y="3693160"/>
                </a:lnTo>
                <a:arcTo wR="101600" hR="101600" stAng="5400000" swAng="5400000"/>
                <a:lnTo>
                  <a:pt x="0" y="101600"/>
                </a:lnTo>
                <a:arcTo wR="101600" hR="101600" stAng="10800000" swAng="5400000"/>
                <a:lnTo>
                  <a:pt x="10464800" y="0"/>
                </a:lnTo>
                <a:arcTo wR="101600" hR="101600" stAng="16200000" swAng="5400000"/>
                <a:lnTo>
                  <a:pt x="10566400" y="101600"/>
                </a:lnTo>
                <a:arcTo wR="101600" hR="89408" stAng="0" swAng="-5400000"/>
                <a:lnTo>
                  <a:pt x="101600" y="12192"/>
                </a:lnTo>
                <a:arcTo wR="89408" hR="89408" stAng="16200000" swAng="-5400000"/>
                <a:lnTo>
                  <a:pt x="12192" y="3591560"/>
                </a:lnTo>
                <a:arcTo wR="89408" hR="1016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992" y="1755900"/>
          <a:ext cx="10550145" cy="3676904"/>
        </p:xfrm>
        <a:graphic>
          <a:graphicData uri="http://schemas.openxmlformats.org/drawingml/2006/table">
            <a:tbl>
              <a:tblPr/>
              <a:tblGrid>
                <a:gridCol w="2321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0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97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Couche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C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Technologies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BC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Rôle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BC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C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63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Données et ETL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Python, pandas, ifcopenshell, shapely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Lire l'IFC, calculer l'adjacence, nettoyer les CSV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97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Stockage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SQLite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Historique dédoublonné, pas de 15 min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7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FastAPI, Pydantic, Uvicorn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API, replay, détection, agents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97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Machine learning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scikit-learn (Random Forest)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Capteur virtuel de température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7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n8n, dans WSL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Workflows A à 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712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Interface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React, TypeScript, Vite, Recharts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A18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Tableau de bord, 9 pages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6238239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LES AGENTS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incident suit la même chaîne de quatre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46883"/>
            <a:ext cx="2292350" cy="2320798"/>
          </a:xfrm>
          <a:prstGeom prst="roundRect">
            <a:avLst>
              <a:gd name="adj" fmla="val 4294"/>
            </a:avLst>
          </a:prstGeom>
          <a:solidFill>
            <a:srgbClr val="221F42"/>
          </a:solidFill>
          <a:ln w="6350">
            <a:solidFill>
              <a:srgbClr val="3A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4664" y="1950972"/>
            <a:ext cx="199302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94664" y="2344672"/>
            <a:ext cx="199302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4664" y="2677412"/>
            <a:ext cx="1993021" cy="90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Repère les capteurs muets, périmés, invalides ou anormaux et les regroupe en un incident.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4664" y="3650233"/>
            <a:ext cx="19930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</a:t>
            </a:r>
            <a:endParaRPr lang="en-US" sz="1200" dirty="0"/>
          </a:p>
        </p:txBody>
      </p:sp>
      <p:pic>
        <p:nvPicPr>
          <p:cNvPr id="9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13100" y="2831083"/>
            <a:ext cx="254000" cy="152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571875" y="1857375"/>
            <a:ext cx="2292350" cy="2099818"/>
          </a:xfrm>
          <a:prstGeom prst="roundRect">
            <a:avLst>
              <a:gd name="adj" fmla="val 4687"/>
            </a:avLst>
          </a:prstGeom>
          <a:solidFill>
            <a:srgbClr val="221F42"/>
          </a:solidFill>
          <a:ln w="6350">
            <a:solidFill>
              <a:srgbClr val="3A35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50564" y="2061462"/>
            <a:ext cx="199302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750564" y="2455162"/>
            <a:ext cx="199302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750564" y="2787904"/>
            <a:ext cx="1993021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Rédige le rapport technique : preuves, salles touchées, chronologie.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750564" y="3539744"/>
            <a:ext cx="19930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B</a:t>
            </a:r>
            <a:endParaRPr lang="en-US" sz="1200" dirty="0"/>
          </a:p>
        </p:txBody>
      </p:sp>
      <p:pic>
        <p:nvPicPr>
          <p:cNvPr id="15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9000" y="2831083"/>
            <a:ext cx="254000" cy="1524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27775" y="1857375"/>
            <a:ext cx="2292350" cy="2099818"/>
          </a:xfrm>
          <a:prstGeom prst="roundRect">
            <a:avLst>
              <a:gd name="adj" fmla="val 4687"/>
            </a:avLst>
          </a:prstGeom>
          <a:solidFill>
            <a:srgbClr val="221F42"/>
          </a:solidFill>
          <a:ln w="6350">
            <a:solidFill>
              <a:srgbClr val="3A356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06464" y="2061462"/>
            <a:ext cx="199302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6506464" y="2455162"/>
            <a:ext cx="199302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racine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506464" y="2787904"/>
            <a:ext cx="1993021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 les hypothèses avec preuves pour et contre, et recommande des actions.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506464" y="3539744"/>
            <a:ext cx="19930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C</a:t>
            </a:r>
            <a:endParaRPr lang="en-US" sz="1200" dirty="0"/>
          </a:p>
        </p:txBody>
      </p:sp>
      <p:pic>
        <p:nvPicPr>
          <p:cNvPr id="21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2831083"/>
            <a:ext cx="254000" cy="1524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083675" y="1857375"/>
            <a:ext cx="2292350" cy="2099818"/>
          </a:xfrm>
          <a:prstGeom prst="roundRect">
            <a:avLst>
              <a:gd name="adj" fmla="val 4687"/>
            </a:avLst>
          </a:prstGeom>
          <a:solidFill>
            <a:srgbClr val="221F42"/>
          </a:solidFill>
          <a:ln w="6350">
            <a:solidFill>
              <a:srgbClr val="3A3566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262364" y="2061462"/>
            <a:ext cx="199302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9262364" y="2455162"/>
            <a:ext cx="199302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9262364" y="2787904"/>
            <a:ext cx="1993021" cy="688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Prévient par email les bonnes personnes, selon la gravité, sans doublons.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9262364" y="3539744"/>
            <a:ext cx="199302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0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D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25500" y="4375658"/>
            <a:ext cx="0" cy="744220"/>
          </a:xfrm>
          <a:prstGeom prst="line">
            <a:avLst/>
          </a:prstGeom>
          <a:noFill/>
          <a:ln w="25400">
            <a:solidFill>
              <a:srgbClr val="F0A43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89584" y="4401058"/>
            <a:ext cx="515496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 local :</a:t>
            </a:r>
            <a:r>
              <a:rPr lang="en-US" sz="13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 n8n est arrêté, le backend lance lui-même les agents 2 à 4 après 5 minutes. Aucun incident n'est perdu.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210300" y="4375658"/>
            <a:ext cx="0" cy="744220"/>
          </a:xfrm>
          <a:prstGeom prst="line">
            <a:avLst/>
          </a:prstGeom>
          <a:noFill/>
          <a:ln w="25400">
            <a:solidFill>
              <a:srgbClr val="F0A43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374384" y="4401058"/>
            <a:ext cx="5154960" cy="71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déterministe :</a:t>
            </a:r>
            <a:r>
              <a:rPr lang="en-US" sz="13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sans modèle de langage configuré, les agents produisent des résultats reproductibles, toujours signalés comme automatiques.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812800" y="6238236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E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E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r>
              <a:rPr lang="en-US" sz="1200" dirty="0">
                <a:solidFill>
                  <a:srgbClr val="8E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TABLEAU DE BORD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d'ensemble du bâtiment</a:t>
            </a:r>
            <a:endParaRPr lang="en-US" sz="3000" dirty="0"/>
          </a:p>
        </p:txBody>
      </p:sp>
      <p:pic>
        <p:nvPicPr>
          <p:cNvPr id="4" name="Image 0" descr="Capture de la page Vue d'ensemble : indicateurs du bâtiment et graphiques de tendance"/>
          <p:cNvPicPr>
            <a:picLocks noChangeAspect="1"/>
          </p:cNvPicPr>
          <p:nvPr/>
        </p:nvPicPr>
        <p:blipFill>
          <a:blip r:embed="rId3"/>
          <a:srcRect l="-71" r="-71"/>
          <a:stretch/>
        </p:blipFill>
        <p:spPr>
          <a:xfrm>
            <a:off x="819150" y="1699258"/>
            <a:ext cx="6997700" cy="3930650"/>
          </a:xfrm>
          <a:prstGeom prst="roundRect">
            <a:avLst>
              <a:gd name="adj" fmla="val 2423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3"/>
            <a:ext cx="7004050" cy="3937000"/>
          </a:xfrm>
          <a:prstGeom prst="roundRect">
            <a:avLst>
              <a:gd name="adj" fmla="val 2500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91500" y="1692908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30184" y="1692908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clés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30184" y="1959608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Salles, capteurs en ligne ou hors ligne, capteurs virtuels actifs, incidents ouverts.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91500" y="2589529"/>
            <a:ext cx="0" cy="90678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30184" y="2589529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Tendances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330184" y="2856229"/>
            <a:ext cx="314048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Température du bâtiment, mesures physiques contre valeurs inférées, électricité.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91500" y="3699508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30184" y="3699508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REPLAY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330184" y="3966208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L'horloge du bâtiment rejoue l'historique à 60 fois la vitesse réelle.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36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TABLEAU DE BORD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Jumeau numérique : la topologie IFC</a:t>
            </a:r>
            <a:endParaRPr lang="en-US" sz="3000" dirty="0"/>
          </a:p>
        </p:txBody>
      </p:sp>
      <p:pic>
        <p:nvPicPr>
          <p:cNvPr id="4" name="Image 0" descr="Capture du jumeau numérique : plan d'étage, liens d'adjacence et panneau de la salle 02-14-N"/>
          <p:cNvPicPr>
            <a:picLocks noChangeAspect="1"/>
          </p:cNvPicPr>
          <p:nvPr/>
        </p:nvPicPr>
        <p:blipFill>
          <a:blip r:embed="rId3"/>
          <a:srcRect l="-71" r="-71"/>
          <a:stretch/>
        </p:blipFill>
        <p:spPr>
          <a:xfrm>
            <a:off x="819150" y="1699258"/>
            <a:ext cx="6997700" cy="3930650"/>
          </a:xfrm>
          <a:prstGeom prst="roundRect">
            <a:avLst>
              <a:gd name="adj" fmla="val 2423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3"/>
            <a:ext cx="7004050" cy="3937000"/>
          </a:xfrm>
          <a:prstGeom prst="roundRect">
            <a:avLst>
              <a:gd name="adj" fmla="val 2500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91500" y="1692908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30184" y="1692908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réels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30184" y="1959608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salle est dessinée avec son emprise IFC, étage par étage.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91500" y="2589529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30184" y="2589529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Liens d'adjacence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330184" y="2856229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Murs partagés, portes, salles au-dessus et en dessous, tirés de la géométrie.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91500" y="3486150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30184" y="3486150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Panneau de salle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330184" y="3752850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Capteurs, valeurs et voisines : ce qu'utilise le capteur fantôme.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36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TABLEAU DE BORD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Capteurs en direct</a:t>
            </a:r>
            <a:endParaRPr lang="en-US" sz="3000" dirty="0"/>
          </a:p>
        </p:txBody>
      </p:sp>
      <p:pic>
        <p:nvPicPr>
          <p:cNvPr id="4" name="Image 0" descr="Capture de la page Capteurs en direct : liste filtrable des capteurs avec état et source"/>
          <p:cNvPicPr>
            <a:picLocks noChangeAspect="1"/>
          </p:cNvPicPr>
          <p:nvPr/>
        </p:nvPicPr>
        <p:blipFill>
          <a:blip r:embed="rId3"/>
          <a:srcRect l="-71" r="-71"/>
          <a:stretch/>
        </p:blipFill>
        <p:spPr>
          <a:xfrm>
            <a:off x="819150" y="1699258"/>
            <a:ext cx="6997700" cy="3930650"/>
          </a:xfrm>
          <a:prstGeom prst="roundRect">
            <a:avLst>
              <a:gd name="adj" fmla="val 2423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3"/>
            <a:ext cx="7004050" cy="3937000"/>
          </a:xfrm>
          <a:prstGeom prst="roundRect">
            <a:avLst>
              <a:gd name="adj" fmla="val 2500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91500" y="1692908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30184" y="1692908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618 capteurs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30184" y="1959608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Dernière mesure à l'heure du bâtiment, état et origine de la valeur.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91500" y="2589529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30184" y="2589529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330184" y="2856229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type, état, source (physique ou inférée) et étage.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91500" y="3486150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30184" y="3486150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Fiche capteur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330184" y="3752850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Seuils, historique sur 24 h et lien vers l'incident en cours.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36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TABLEAU DE BORD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Capteurs fantômes : le relais par ML</a:t>
            </a:r>
            <a:endParaRPr lang="en-US" sz="3000" dirty="0"/>
          </a:p>
        </p:txBody>
      </p:sp>
      <p:pic>
        <p:nvPicPr>
          <p:cNvPr id="4" name="Image 0" descr="Capture du moniteur des capteurs fantômes : cartes de capteurs virtuels avec valeur estimée et intervalle"/>
          <p:cNvPicPr>
            <a:picLocks noChangeAspect="1"/>
          </p:cNvPicPr>
          <p:nvPr/>
        </p:nvPicPr>
        <p:blipFill>
          <a:blip r:embed="rId3"/>
          <a:srcRect l="-71" r="-71"/>
          <a:stretch/>
        </p:blipFill>
        <p:spPr>
          <a:xfrm>
            <a:off x="819150" y="1699258"/>
            <a:ext cx="6997700" cy="3930650"/>
          </a:xfrm>
          <a:prstGeom prst="roundRect">
            <a:avLst>
              <a:gd name="adj" fmla="val 2423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3"/>
            <a:ext cx="7004050" cy="3937000"/>
          </a:xfrm>
          <a:prstGeom prst="roundRect">
            <a:avLst>
              <a:gd name="adj" fmla="val 2500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78800" y="1692908"/>
            <a:ext cx="1536700" cy="985520"/>
          </a:xfrm>
          <a:prstGeom prst="roundRect">
            <a:avLst>
              <a:gd name="adj" fmla="val 9021"/>
            </a:avLst>
          </a:prstGeom>
          <a:solidFill>
            <a:srgbClr val="EDEAFF"/>
          </a:solidFill>
          <a:ln/>
        </p:spPr>
      </p:sp>
      <p:sp>
        <p:nvSpPr>
          <p:cNvPr id="7" name="Text 4"/>
          <p:cNvSpPr/>
          <p:nvPr/>
        </p:nvSpPr>
        <p:spPr>
          <a:xfrm>
            <a:off x="8305800" y="1819908"/>
            <a:ext cx="1333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B3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0,36 °C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305800" y="2124708"/>
            <a:ext cx="1333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erreur moyenne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842500" y="1692908"/>
            <a:ext cx="1536700" cy="985520"/>
          </a:xfrm>
          <a:prstGeom prst="roundRect">
            <a:avLst>
              <a:gd name="adj" fmla="val 9021"/>
            </a:avLst>
          </a:prstGeom>
          <a:solidFill>
            <a:srgbClr val="EDEAFF"/>
          </a:solidFill>
          <a:ln/>
        </p:spPr>
      </p:sp>
      <p:sp>
        <p:nvSpPr>
          <p:cNvPr id="10" name="Text 7"/>
          <p:cNvSpPr/>
          <p:nvPr/>
        </p:nvSpPr>
        <p:spPr>
          <a:xfrm>
            <a:off x="9969500" y="1819908"/>
            <a:ext cx="1333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4B3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969500" y="2124708"/>
            <a:ext cx="133350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couverture de l'intervalle à 90 %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91500" y="2856229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30184" y="2856229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330184" y="3122929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Estime la température à partir des salles voisines et de l'historique de la salle.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91500" y="3727450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30184" y="3727450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signalé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330184" y="3994150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 en violet, marquée « Capteur Virtuel Actif », avec son intervalle.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12800" y="6238236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TABLEAU DE BORD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Incidents : la panne du 3 mars 2026</a:t>
            </a:r>
            <a:endParaRPr lang="en-US" sz="3000" dirty="0"/>
          </a:p>
        </p:txBody>
      </p:sp>
      <p:pic>
        <p:nvPicPr>
          <p:cNvPr id="4" name="Image 0" descr="Capture de l'incident critique du 3 mars 2026 : résumé, preuves de détection et capteurs touchés"/>
          <p:cNvPicPr>
            <a:picLocks noChangeAspect="1"/>
          </p:cNvPicPr>
          <p:nvPr/>
        </p:nvPicPr>
        <p:blipFill>
          <a:blip r:embed="rId3"/>
          <a:srcRect l="-71" r="-71"/>
          <a:stretch/>
        </p:blipFill>
        <p:spPr>
          <a:xfrm>
            <a:off x="819150" y="1699258"/>
            <a:ext cx="6997700" cy="3930650"/>
          </a:xfrm>
          <a:prstGeom prst="roundRect">
            <a:avLst>
              <a:gd name="adj" fmla="val 2423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3"/>
            <a:ext cx="7004050" cy="3937000"/>
          </a:xfrm>
          <a:prstGeom prst="roundRect">
            <a:avLst>
              <a:gd name="adj" fmla="val 2500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91500" y="1692908"/>
            <a:ext cx="0" cy="90678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30184" y="1692908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incident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30184" y="1959608"/>
            <a:ext cx="314048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332 capteurs sur 5 passerelles regroupés en un incident critique, au lieu de centaines d'alertes.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91500" y="2802886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30184" y="2802886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330184" y="3069586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186 capteurs muets en 30 minutes, sur tous les étages.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91500" y="3699508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30184" y="3699508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Onglets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330184" y="3966208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 technique, cause racine, notifications, chronologie.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36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TABLEAU DE BORD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d'investigation IA</a:t>
            </a:r>
            <a:endParaRPr lang="en-US" sz="3000" dirty="0"/>
          </a:p>
        </p:txBody>
      </p:sp>
      <p:pic>
        <p:nvPicPr>
          <p:cNvPr id="4" name="Image 0" descr="Capture du centre d'investigation : les quatre agents côte à côte pour un incident"/>
          <p:cNvPicPr>
            <a:picLocks noChangeAspect="1"/>
          </p:cNvPicPr>
          <p:nvPr/>
        </p:nvPicPr>
        <p:blipFill>
          <a:blip r:embed="rId3"/>
          <a:srcRect l="-71" r="-71"/>
          <a:stretch/>
        </p:blipFill>
        <p:spPr>
          <a:xfrm>
            <a:off x="819150" y="1699258"/>
            <a:ext cx="6997700" cy="3930650"/>
          </a:xfrm>
          <a:prstGeom prst="roundRect">
            <a:avLst>
              <a:gd name="adj" fmla="val 2423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3"/>
            <a:ext cx="7004050" cy="3937000"/>
          </a:xfrm>
          <a:prstGeom prst="roundRect">
            <a:avLst>
              <a:gd name="adj" fmla="val 2500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91500" y="1692908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30184" y="1692908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agents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30184" y="1959608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Classification, documentation, cause racine et alerte, côte à côte.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91500" y="2589529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30184" y="2589529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Hypothèses classées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330184" y="2856229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cause possible avec ses preuves pour et contre.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91500" y="3486150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30184" y="3486150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Traçabilité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330184" y="3752850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carte indique comment l'agent a tourné : n8n, moteur ou repli local.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36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TABLEAU DE BORD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Rapports et contrôle des données CSV</a:t>
            </a:r>
            <a:endParaRPr lang="en-US" sz="3000" dirty="0"/>
          </a:p>
        </p:txBody>
      </p:sp>
      <p:pic>
        <p:nvPicPr>
          <p:cNvPr id="4" name="Image 0" descr="Capture de la page Rapports et analyses : tendance des incidents et statistiques de pannes"/>
          <p:cNvPicPr>
            <a:picLocks noChangeAspect="1"/>
          </p:cNvPicPr>
          <p:nvPr/>
        </p:nvPicPr>
        <p:blipFill>
          <a:blip r:embed="rId3"/>
          <a:srcRect l="-41" r="-41"/>
          <a:stretch/>
        </p:blipFill>
        <p:spPr>
          <a:xfrm>
            <a:off x="819150" y="1699258"/>
            <a:ext cx="5118100" cy="2876550"/>
          </a:xfrm>
          <a:prstGeom prst="roundRect">
            <a:avLst>
              <a:gd name="adj" fmla="val 3311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3"/>
            <a:ext cx="5124450" cy="2882900"/>
          </a:xfrm>
          <a:prstGeom prst="roundRect">
            <a:avLst>
              <a:gd name="adj" fmla="val 3414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5500" y="4734558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4184" y="4734558"/>
            <a:ext cx="51287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Rapports et analyses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4184" y="5001258"/>
            <a:ext cx="51287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Tendance des incidents par gravité, statistiques de pannes, tous les rapports de l'agent 2.</a:t>
            </a:r>
            <a:endParaRPr lang="en-US" sz="1200" dirty="0"/>
          </a:p>
        </p:txBody>
      </p:sp>
      <p:pic>
        <p:nvPicPr>
          <p:cNvPr id="9" name="Image 1" descr="Capture du contrôle des données : audit de l'export CO2 de janvier, séries en erreur"/>
          <p:cNvPicPr>
            <a:picLocks noChangeAspect="1"/>
          </p:cNvPicPr>
          <p:nvPr/>
        </p:nvPicPr>
        <p:blipFill>
          <a:blip r:embed="rId4"/>
          <a:srcRect l="-41" r="-41"/>
          <a:stretch/>
        </p:blipFill>
        <p:spPr>
          <a:xfrm>
            <a:off x="6254750" y="1699258"/>
            <a:ext cx="5118100" cy="2876550"/>
          </a:xfrm>
          <a:prstGeom prst="roundRect">
            <a:avLst>
              <a:gd name="adj" fmla="val 3311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6251575" y="1696083"/>
            <a:ext cx="5124450" cy="2882900"/>
          </a:xfrm>
          <a:prstGeom prst="roundRect">
            <a:avLst>
              <a:gd name="adj" fmla="val 3414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61100" y="4734558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99784" y="4734558"/>
            <a:ext cx="51287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données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99784" y="5001258"/>
            <a:ext cx="51287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CO₂ de janvier : 449 538 lignes, 44 séries, dont 11 en erreur. Analysé, jamais importé.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12800" y="6238236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TABLEAU DE BORD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Santé du système et assistant</a:t>
            </a:r>
            <a:endParaRPr lang="en-US" sz="3000" dirty="0"/>
          </a:p>
        </p:txBody>
      </p:sp>
      <p:pic>
        <p:nvPicPr>
          <p:cNvPr id="4" name="Image 0" descr="Capture de la page Workflows et santé : état des composants et orchestration n8n"/>
          <p:cNvPicPr>
            <a:picLocks noChangeAspect="1"/>
          </p:cNvPicPr>
          <p:nvPr/>
        </p:nvPicPr>
        <p:blipFill>
          <a:blip r:embed="rId3"/>
          <a:srcRect l="-41" r="-41"/>
          <a:stretch/>
        </p:blipFill>
        <p:spPr>
          <a:xfrm>
            <a:off x="819150" y="1699258"/>
            <a:ext cx="5118100" cy="2876550"/>
          </a:xfrm>
          <a:prstGeom prst="roundRect">
            <a:avLst>
              <a:gd name="adj" fmla="val 3311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3"/>
            <a:ext cx="5124450" cy="2882900"/>
          </a:xfrm>
          <a:prstGeom prst="roundRect">
            <a:avLst>
              <a:gd name="adj" fmla="val 3414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5500" y="4734558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4184" y="4734558"/>
            <a:ext cx="51287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et santé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4184" y="5001258"/>
            <a:ext cx="51287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détection, inférence ML, n8n ; outils opérateur : horloge, pannes simulées.</a:t>
            </a:r>
            <a:endParaRPr lang="en-US" sz="1200" dirty="0"/>
          </a:p>
        </p:txBody>
      </p:sp>
      <p:pic>
        <p:nvPicPr>
          <p:cNvPr id="9" name="Image 1" descr="Capture de l'assistant : réponse à la question des capteurs hors ligne"/>
          <p:cNvPicPr>
            <a:picLocks noChangeAspect="1"/>
          </p:cNvPicPr>
          <p:nvPr/>
        </p:nvPicPr>
        <p:blipFill>
          <a:blip r:embed="rId4"/>
          <a:srcRect l="-41" r="-41"/>
          <a:stretch/>
        </p:blipFill>
        <p:spPr>
          <a:xfrm>
            <a:off x="6254750" y="1699258"/>
            <a:ext cx="5118100" cy="2876550"/>
          </a:xfrm>
          <a:prstGeom prst="roundRect">
            <a:avLst>
              <a:gd name="adj" fmla="val 3311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6251575" y="1696083"/>
            <a:ext cx="5124450" cy="2882900"/>
          </a:xfrm>
          <a:prstGeom prst="roundRect">
            <a:avLst>
              <a:gd name="adj" fmla="val 3414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61100" y="4734558"/>
            <a:ext cx="0" cy="693420"/>
          </a:xfrm>
          <a:prstGeom prst="line">
            <a:avLst/>
          </a:prstGeom>
          <a:noFill/>
          <a:ln w="25400">
            <a:solidFill>
              <a:srgbClr val="5B47D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99784" y="4734558"/>
            <a:ext cx="51287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99784" y="5001258"/>
            <a:ext cx="51287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en langage courant, réponses tirées des vraies données en lecture seule.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ORCHESTRATION N8N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Cinq workflows n8n</a:t>
            </a:r>
            <a:endParaRPr lang="en-US" sz="3000" dirty="0"/>
          </a:p>
        </p:txBody>
      </p:sp>
      <p:pic>
        <p:nvPicPr>
          <p:cNvPr id="4" name="Image 0" descr="Capture de n8n : la liste des cinq workflows Ghost Sensor"/>
          <p:cNvPicPr>
            <a:picLocks noChangeAspect="1"/>
          </p:cNvPicPr>
          <p:nvPr/>
        </p:nvPicPr>
        <p:blipFill>
          <a:blip r:embed="rId3"/>
          <a:srcRect l="-71" r="-71"/>
          <a:stretch/>
        </p:blipFill>
        <p:spPr>
          <a:xfrm>
            <a:off x="819150" y="1699258"/>
            <a:ext cx="6997700" cy="3930650"/>
          </a:xfrm>
          <a:prstGeom prst="roundRect">
            <a:avLst>
              <a:gd name="adj" fmla="val 2423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3"/>
            <a:ext cx="7004050" cy="3937000"/>
          </a:xfrm>
          <a:prstGeom prst="roundRect">
            <a:avLst>
              <a:gd name="adj" fmla="val 2500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81975" y="1696083"/>
            <a:ext cx="3194050" cy="525018"/>
          </a:xfrm>
          <a:prstGeom prst="roundRect">
            <a:avLst>
              <a:gd name="adj" fmla="val 13909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09864" y="1798575"/>
            <a:ext cx="3048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65464" y="1859533"/>
            <a:ext cx="2326234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Surveillance, chaque minute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81975" y="2316349"/>
            <a:ext cx="3194050" cy="525018"/>
          </a:xfrm>
          <a:prstGeom prst="roundRect">
            <a:avLst>
              <a:gd name="adj" fmla="val 13909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09864" y="2418842"/>
            <a:ext cx="3048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65464" y="2479799"/>
            <a:ext cx="2043379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 (agent 2)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81975" y="2936615"/>
            <a:ext cx="3194050" cy="525018"/>
          </a:xfrm>
          <a:prstGeom prst="roundRect">
            <a:avLst>
              <a:gd name="adj" fmla="val 13909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09864" y="3039108"/>
            <a:ext cx="3048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65464" y="3100065"/>
            <a:ext cx="187756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 racine (agent 3)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81975" y="3556881"/>
            <a:ext cx="3194050" cy="525018"/>
          </a:xfrm>
          <a:prstGeom prst="roundRect">
            <a:avLst>
              <a:gd name="adj" fmla="val 13909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09864" y="3659374"/>
            <a:ext cx="3048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665464" y="3720331"/>
            <a:ext cx="1775155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 email (agent 4)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181975" y="4177159"/>
            <a:ext cx="3194050" cy="525018"/>
          </a:xfrm>
          <a:prstGeom prst="roundRect">
            <a:avLst>
              <a:gd name="adj" fmla="val 13909"/>
            </a:avLst>
          </a:prstGeom>
          <a:solidFill>
            <a:srgbClr val="FFF4E5"/>
          </a:solidFill>
          <a:ln w="6350">
            <a:solidFill>
              <a:srgbClr val="F0C7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309864" y="4279640"/>
            <a:ext cx="304800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665464" y="4340609"/>
            <a:ext cx="1619098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erreurs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178800" y="4794250"/>
            <a:ext cx="3296412" cy="456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étiquetés </a:t>
            </a:r>
            <a:r>
              <a:rPr lang="en-US" sz="1200" b="1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ghost-sensor</a:t>
            </a: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n8n tourne dans WSL.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ORCHESTRATION N8N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A : surveillance des capteurs</a:t>
            </a:r>
            <a:endParaRPr lang="en-US" sz="3000" dirty="0"/>
          </a:p>
        </p:txBody>
      </p:sp>
      <p:pic>
        <p:nvPicPr>
          <p:cNvPr id="4" name="Image 0" descr="Capture du workflow A dans n8n : déclencheurs, appel de l'agent 1, réservation des incidents et transfert au workflow B"/>
          <p:cNvPicPr>
            <a:picLocks noChangeAspect="1"/>
          </p:cNvPicPr>
          <p:nvPr/>
        </p:nvPicPr>
        <p:blipFill>
          <a:blip r:embed="rId3"/>
          <a:srcRect l="-71" r="-71"/>
          <a:stretch/>
        </p:blipFill>
        <p:spPr>
          <a:xfrm>
            <a:off x="819150" y="1699258"/>
            <a:ext cx="6997700" cy="3930650"/>
          </a:xfrm>
          <a:prstGeom prst="roundRect">
            <a:avLst>
              <a:gd name="adj" fmla="val 2423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3"/>
            <a:ext cx="7004050" cy="3937000"/>
          </a:xfrm>
          <a:prstGeom prst="roundRect">
            <a:avLst>
              <a:gd name="adj" fmla="val 2500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91500" y="1692908"/>
            <a:ext cx="0" cy="90678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30184" y="1692908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déclencheurs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30184" y="1959608"/>
            <a:ext cx="3140487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Planification chaque minute, et webhook pour que le backend pousse un incident tout de suite.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91500" y="2802892"/>
            <a:ext cx="0" cy="69342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30184" y="2802892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330184" y="3069592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Appel authentifié du point de détection du backend.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91500" y="3699508"/>
            <a:ext cx="0" cy="69342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30184" y="3699508"/>
            <a:ext cx="31404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Réservation atomique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330184" y="3966208"/>
            <a:ext cx="314048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Jusqu'à 5 incidents, les plus graves d'abord, puis un par un vers B.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ORCHESTRATION N8N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B, C et D : un agent chacun</a:t>
            </a:r>
            <a:endParaRPr lang="en-US" sz="3000" dirty="0"/>
          </a:p>
        </p:txBody>
      </p:sp>
      <p:pic>
        <p:nvPicPr>
          <p:cNvPr id="4" name="Image 0" descr="Capture du workflow B : agent 2, contrôle de la sortie, transfert vers C"/>
          <p:cNvPicPr>
            <a:picLocks noChangeAspect="1"/>
          </p:cNvPicPr>
          <p:nvPr/>
        </p:nvPicPr>
        <p:blipFill>
          <a:blip r:embed="rId3"/>
          <a:srcRect l="-148" r="-148"/>
          <a:stretch/>
        </p:blipFill>
        <p:spPr>
          <a:xfrm>
            <a:off x="819150" y="1699258"/>
            <a:ext cx="3340100" cy="1873250"/>
          </a:xfrm>
          <a:prstGeom prst="roundRect">
            <a:avLst>
              <a:gd name="adj" fmla="val 4407"/>
            </a:avLst>
          </a:prstGeom>
          <a:effectLst>
            <a:outerShdw blurRad="203200" dist="76200" dir="5400000" algn="bl" rotWithShape="0">
              <a:srgbClr val="15132B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3"/>
            <a:ext cx="3346450" cy="1879600"/>
          </a:xfrm>
          <a:prstGeom prst="roundRect">
            <a:avLst>
              <a:gd name="adj" fmla="val 4561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2800" y="3705858"/>
            <a:ext cx="34533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r>
              <a:rPr lang="en-US" sz="16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Documentation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4076700"/>
            <a:ext cx="345338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 l'agent 2. Sortie valide : passage à C. Sinon : événement « sortie invalide » envoyé au backend.</a:t>
            </a:r>
            <a:endParaRPr lang="en-US" sz="1200" dirty="0"/>
          </a:p>
        </p:txBody>
      </p:sp>
      <p:pic>
        <p:nvPicPr>
          <p:cNvPr id="8" name="Image 1" descr="Capture du workflow C : agent 3, contrôle de la sortie, transfert vers D"/>
          <p:cNvPicPr>
            <a:picLocks noChangeAspect="1"/>
          </p:cNvPicPr>
          <p:nvPr/>
        </p:nvPicPr>
        <p:blipFill>
          <a:blip r:embed="rId4"/>
          <a:srcRect l="-148" r="-148"/>
          <a:stretch/>
        </p:blipFill>
        <p:spPr>
          <a:xfrm>
            <a:off x="4425950" y="1699258"/>
            <a:ext cx="3340100" cy="1873250"/>
          </a:xfrm>
          <a:prstGeom prst="roundRect">
            <a:avLst>
              <a:gd name="adj" fmla="val 4407"/>
            </a:avLst>
          </a:prstGeom>
          <a:effectLst>
            <a:outerShdw blurRad="203200" dist="76200" dir="5400000" algn="bl" rotWithShape="0">
              <a:srgbClr val="15132B">
                <a:alpha val="12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4422775" y="1696083"/>
            <a:ext cx="3346450" cy="1879600"/>
          </a:xfrm>
          <a:prstGeom prst="roundRect">
            <a:avLst>
              <a:gd name="adj" fmla="val 4561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419600" y="3705858"/>
            <a:ext cx="34533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16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Cause racine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19600" y="4076700"/>
            <a:ext cx="345338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 l'agent 3, avec la même vérification avant de passer à D.</a:t>
            </a:r>
            <a:endParaRPr lang="en-US" sz="1200" dirty="0"/>
          </a:p>
        </p:txBody>
      </p:sp>
      <p:pic>
        <p:nvPicPr>
          <p:cNvPr id="12" name="Image 2" descr="Capture du workflow D : agent 4 et enregistrement du résultat de notification"/>
          <p:cNvPicPr>
            <a:picLocks noChangeAspect="1"/>
          </p:cNvPicPr>
          <p:nvPr/>
        </p:nvPicPr>
        <p:blipFill>
          <a:blip r:embed="rId5"/>
          <a:srcRect l="-148" r="-148"/>
          <a:stretch/>
        </p:blipFill>
        <p:spPr>
          <a:xfrm>
            <a:off x="8032750" y="1699258"/>
            <a:ext cx="3340100" cy="1873250"/>
          </a:xfrm>
          <a:prstGeom prst="roundRect">
            <a:avLst>
              <a:gd name="adj" fmla="val 4407"/>
            </a:avLst>
          </a:prstGeom>
          <a:effectLst>
            <a:outerShdw blurRad="203200" dist="76200" dir="5400000" algn="bl" rotWithShape="0">
              <a:srgbClr val="15132B">
                <a:alpha val="12000"/>
              </a:srgbClr>
            </a:outerShdw>
          </a:effectLst>
        </p:spPr>
      </p:pic>
      <p:sp>
        <p:nvSpPr>
          <p:cNvPr id="13" name="Shape 8"/>
          <p:cNvSpPr/>
          <p:nvPr/>
        </p:nvSpPr>
        <p:spPr>
          <a:xfrm>
            <a:off x="8029575" y="1696083"/>
            <a:ext cx="3346450" cy="1879600"/>
          </a:xfrm>
          <a:prstGeom prst="roundRect">
            <a:avLst>
              <a:gd name="adj" fmla="val 4561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026400" y="3705858"/>
            <a:ext cx="3453384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6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Alerte email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026400" y="4076700"/>
            <a:ext cx="3453384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 l'agent 4 et enregistre le résultat. L'agent choisit les destinataires et supprime les doublons.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4970773"/>
            <a:ext cx="10566400" cy="434340"/>
          </a:xfrm>
          <a:prstGeom prst="roundRect">
            <a:avLst>
              <a:gd name="adj" fmla="val 17544"/>
            </a:avLst>
          </a:prstGeom>
          <a:solidFill>
            <a:srgbClr val="ECEAF5"/>
          </a:solidFill>
          <a:ln/>
        </p:spPr>
        <p:txBody>
          <a:bodyPr wrap="square" lIns="130082" tIns="79282" rIns="0" bIns="5388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 le workflow parent peut appeler un sous-workflow : A → B → C → D.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ORCHESTRATION N8N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E et suivi des exécutions</a:t>
            </a:r>
            <a:endParaRPr lang="en-US" sz="3000" dirty="0"/>
          </a:p>
        </p:txBody>
      </p:sp>
      <p:pic>
        <p:nvPicPr>
          <p:cNvPr id="4" name="Image 0" descr="Capture du workflow E : déclencheur d'erreur, nettoyage, rapport au backend"/>
          <p:cNvPicPr>
            <a:picLocks noChangeAspect="1"/>
          </p:cNvPicPr>
          <p:nvPr/>
        </p:nvPicPr>
        <p:blipFill>
          <a:blip r:embed="rId3"/>
          <a:srcRect l="-41" r="-41"/>
          <a:stretch/>
        </p:blipFill>
        <p:spPr>
          <a:xfrm>
            <a:off x="819150" y="1699258"/>
            <a:ext cx="5118100" cy="2876550"/>
          </a:xfrm>
          <a:prstGeom prst="roundRect">
            <a:avLst>
              <a:gd name="adj" fmla="val 3311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3"/>
            <a:ext cx="5124450" cy="2882900"/>
          </a:xfrm>
          <a:prstGeom prst="roundRect">
            <a:avLst>
              <a:gd name="adj" fmla="val 3414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5500" y="4734558"/>
            <a:ext cx="0" cy="69342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4184" y="4734558"/>
            <a:ext cx="51287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erreurs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4184" y="5001258"/>
            <a:ext cx="51287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garde que le message, le nœud et l'identifiant d'exécution, sans données ni secrets.</a:t>
            </a:r>
            <a:endParaRPr lang="en-US" sz="1200" dirty="0"/>
          </a:p>
        </p:txBody>
      </p:sp>
      <p:pic>
        <p:nvPicPr>
          <p:cNvPr id="9" name="Image 1" descr="Capture de la liste des exécutions n8n, toutes réussies"/>
          <p:cNvPicPr>
            <a:picLocks noChangeAspect="1"/>
          </p:cNvPicPr>
          <p:nvPr/>
        </p:nvPicPr>
        <p:blipFill>
          <a:blip r:embed="rId4"/>
          <a:srcRect l="-41" r="-41"/>
          <a:stretch/>
        </p:blipFill>
        <p:spPr>
          <a:xfrm>
            <a:off x="6254750" y="1699258"/>
            <a:ext cx="5118100" cy="2876550"/>
          </a:xfrm>
          <a:prstGeom prst="roundRect">
            <a:avLst>
              <a:gd name="adj" fmla="val 3311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6251575" y="1696083"/>
            <a:ext cx="5124450" cy="2882900"/>
          </a:xfrm>
          <a:prstGeom prst="roundRect">
            <a:avLst>
              <a:gd name="adj" fmla="val 3414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61100" y="4734558"/>
            <a:ext cx="0" cy="69342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99784" y="4734558"/>
            <a:ext cx="51287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Exécutions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99784" y="5001258"/>
            <a:ext cx="512879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chaque incident réservé : un passage de B, C et D, tracé jusqu'au tableau de bord.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0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ORCHESTRATION N8N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orchestration sûre et robuste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97683"/>
            <a:ext cx="5175250" cy="1144778"/>
          </a:xfrm>
          <a:prstGeom prst="roundRect">
            <a:avLst>
              <a:gd name="adj" fmla="val 8598"/>
            </a:avLst>
          </a:prstGeom>
          <a:solidFill>
            <a:srgbClr val="221F42"/>
          </a:solidFill>
          <a:ln w="6350">
            <a:solidFill>
              <a:srgbClr val="3A3566"/>
            </a:solidFill>
            <a:prstDash val="solid"/>
          </a:ln>
        </p:spPr>
      </p:sp>
      <p:pic>
        <p:nvPicPr>
          <p:cNvPr id="5" name="Image 0" descr="Key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0064" y="2001775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7264" y="2001775"/>
            <a:ext cx="443916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Jeton authentifié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77264" y="2296406"/>
            <a:ext cx="4439168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appel porte l'en-tête X-Ghost-Token, stocké dans le coffre d'identifiants de n8n, jamais dans le workflow.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00775" y="1797683"/>
            <a:ext cx="5175250" cy="1144778"/>
          </a:xfrm>
          <a:prstGeom prst="roundRect">
            <a:avLst>
              <a:gd name="adj" fmla="val 8598"/>
            </a:avLst>
          </a:prstGeom>
          <a:solidFill>
            <a:srgbClr val="221F42"/>
          </a:solidFill>
          <a:ln w="6350">
            <a:solidFill>
              <a:srgbClr val="3A3566"/>
            </a:solidFill>
            <a:prstDash val="solid"/>
          </a:ln>
        </p:spPr>
      </p:sp>
      <p:pic>
        <p:nvPicPr>
          <p:cNvPr id="9" name="Image 1" descr="Lo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4864" y="2001775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62064" y="2001775"/>
            <a:ext cx="443916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Réservation atomique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862064" y="2296406"/>
            <a:ext cx="4439168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incident n'est jamais traité deux fois, même si le repli du backend tourne en parallèle.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15975" y="3152006"/>
            <a:ext cx="5175250" cy="1144778"/>
          </a:xfrm>
          <a:prstGeom prst="roundRect">
            <a:avLst>
              <a:gd name="adj" fmla="val 8598"/>
            </a:avLst>
          </a:prstGeom>
          <a:solidFill>
            <a:srgbClr val="221F42"/>
          </a:solidFill>
          <a:ln w="6350">
            <a:solidFill>
              <a:srgbClr val="3A3566"/>
            </a:solidFill>
            <a:prstDash val="solid"/>
          </a:ln>
        </p:spPr>
      </p:sp>
      <p:pic>
        <p:nvPicPr>
          <p:cNvPr id="13" name="Image 2" descr="Clock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20064" y="3356099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77264" y="3356099"/>
            <a:ext cx="443916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Délais et tentatives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77264" y="3650742"/>
            <a:ext cx="4439168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appel a un délai d'expiration et un nombre limité de nouvelles tentatives.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00775" y="3152006"/>
            <a:ext cx="5175250" cy="1144778"/>
          </a:xfrm>
          <a:prstGeom prst="roundRect">
            <a:avLst>
              <a:gd name="adj" fmla="val 8598"/>
            </a:avLst>
          </a:prstGeom>
          <a:solidFill>
            <a:srgbClr val="221F42"/>
          </a:solidFill>
          <a:ln w="6350">
            <a:solidFill>
              <a:srgbClr val="3A3566"/>
            </a:solidFill>
            <a:prstDash val="solid"/>
          </a:ln>
        </p:spPr>
      </p:sp>
      <p:pic>
        <p:nvPicPr>
          <p:cNvPr id="17" name="Image 3" descr="Verified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04864" y="3356099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62064" y="3356099"/>
            <a:ext cx="443916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Repli après 5 min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862064" y="3650742"/>
            <a:ext cx="4439168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C9C5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n8n ne répond plus, le backend lance lui-même les agents 2 à 4.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E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E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r>
              <a:rPr lang="en-US" sz="1200" dirty="0">
                <a:solidFill>
                  <a:srgbClr val="8E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DÉMONSTRATION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panne simulée, de bout en bout</a:t>
            </a:r>
            <a:endParaRPr lang="en-US" sz="3000" dirty="0"/>
          </a:p>
        </p:txBody>
      </p:sp>
      <p:pic>
        <p:nvPicPr>
          <p:cNvPr id="4" name="Image 0" descr="Capture de l'incident de démonstration : sonde T-02-14-N hors ligne, pipeline complet"/>
          <p:cNvPicPr>
            <a:picLocks noChangeAspect="1"/>
          </p:cNvPicPr>
          <p:nvPr/>
        </p:nvPicPr>
        <p:blipFill>
          <a:blip r:embed="rId3"/>
          <a:srcRect l="-89" r="-89"/>
          <a:stretch/>
        </p:blipFill>
        <p:spPr>
          <a:xfrm>
            <a:off x="819150" y="1699258"/>
            <a:ext cx="5575300" cy="3130550"/>
          </a:xfrm>
          <a:prstGeom prst="roundRect">
            <a:avLst>
              <a:gd name="adj" fmla="val 3043"/>
            </a:avLst>
          </a:prstGeom>
          <a:effectLst>
            <a:outerShdw blurRad="254000" dist="101600" dir="5400000" algn="bl" rotWithShape="0">
              <a:srgbClr val="15132B">
                <a:alpha val="14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15975" y="1696083"/>
            <a:ext cx="5581650" cy="3136900"/>
          </a:xfrm>
          <a:prstGeom prst="roundRect">
            <a:avLst>
              <a:gd name="adj" fmla="val 3138"/>
            </a:avLst>
          </a:prstGeom>
          <a:noFill/>
          <a:ln w="6350">
            <a:solidFill>
              <a:srgbClr val="D9D6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756400" y="169290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5B47D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94"/>
              </a:lnSpc>
              <a:buNone/>
            </a:pPr>
            <a:r>
              <a:rPr lang="en-US" sz="14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88200" y="1692908"/>
            <a:ext cx="5003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simule une panne : la sonde </a:t>
            </a:r>
            <a:r>
              <a:rPr lang="en-US" sz="1200" b="1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T-02-14-N</a:t>
            </a: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cesse d'émettre.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56400" y="212470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5B47D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94"/>
              </a:lnSpc>
              <a:buNone/>
            </a:pPr>
            <a:r>
              <a:rPr lang="en-US" sz="14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88200" y="2124708"/>
            <a:ext cx="43167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 45 min sans données (temps du bâtiment), elle est déclarée périmée.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756400" y="26784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5B47D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94"/>
              </a:lnSpc>
              <a:buNone/>
            </a:pPr>
            <a:r>
              <a:rPr lang="en-US" sz="14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88200" y="2678423"/>
            <a:ext cx="431673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L'agent 1 ouvre un incident ; le capteur fantôme estime </a:t>
            </a:r>
            <a:r>
              <a:rPr lang="en-US" sz="1200" b="1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23,8 °C</a:t>
            </a: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(intervalle 23,5 à 24,2).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756400" y="324027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5B47D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94"/>
              </a:lnSpc>
              <a:buNone/>
            </a:pPr>
            <a:r>
              <a:rPr lang="en-US" sz="14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88200" y="3240274"/>
            <a:ext cx="43167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n8n réserve l'incident et lance B, C, D : rapport, causes, alerte.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56400" y="379398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5B47D6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394"/>
              </a:lnSpc>
              <a:buNone/>
            </a:pPr>
            <a:r>
              <a:rPr lang="en-US" sz="14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188200" y="3793989"/>
            <a:ext cx="431673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7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panne : retour à la mesure physique, l'incident se résout seul.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5B47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CONCLUSION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Ghost Sensor apporte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46883"/>
            <a:ext cx="5187950" cy="906018"/>
          </a:xfrm>
          <a:prstGeom prst="roundRect">
            <a:avLst>
              <a:gd name="adj" fmla="val 10863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pic>
        <p:nvPicPr>
          <p:cNvPr id="5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0064" y="1950975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51864" y="1950975"/>
            <a:ext cx="447841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14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jumeau numérique fidèle</a:t>
            </a:r>
            <a:r>
              <a:rPr lang="en-US" sz="14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issu de la vraie maquette IFC : 332 salles et leurs voisines.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88075" y="1746883"/>
            <a:ext cx="5187950" cy="906018"/>
          </a:xfrm>
          <a:prstGeom prst="roundRect">
            <a:avLst>
              <a:gd name="adj" fmla="val 10863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pic>
        <p:nvPicPr>
          <p:cNvPr id="8" name="Image 1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92164" y="1950975"/>
            <a:ext cx="279400" cy="279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23964" y="1950975"/>
            <a:ext cx="447841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618 capteurs surveillés</a:t>
            </a:r>
            <a:r>
              <a:rPr lang="en-US" sz="14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et les sondes muettes remplacées par une estimation ML à 0,36 °C près.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15975" y="2837049"/>
            <a:ext cx="5187950" cy="1154938"/>
          </a:xfrm>
          <a:prstGeom prst="roundRect">
            <a:avLst>
              <a:gd name="adj" fmla="val 8522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pic>
        <p:nvPicPr>
          <p:cNvPr id="11" name="Image 2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0064" y="3041142"/>
            <a:ext cx="279400" cy="279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51864" y="3041142"/>
            <a:ext cx="4478411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Quatre agents</a:t>
            </a:r>
            <a:r>
              <a:rPr lang="en-US" sz="14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orchestrés par n8n, avec un repli intégré : aucun incident perdu.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188075" y="2837049"/>
            <a:ext cx="5187950" cy="1154938"/>
          </a:xfrm>
          <a:prstGeom prst="roundRect">
            <a:avLst>
              <a:gd name="adj" fmla="val 8522"/>
            </a:avLst>
          </a:prstGeom>
          <a:solidFill>
            <a:srgbClr val="FFFFFF"/>
          </a:solidFill>
          <a:ln w="6350">
            <a:solidFill>
              <a:srgbClr val="E1DEEE"/>
            </a:solidFill>
            <a:prstDash val="solid"/>
          </a:ln>
        </p:spPr>
      </p:sp>
      <p:pic>
        <p:nvPicPr>
          <p:cNvPr id="14" name="Image 3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92164" y="3041142"/>
            <a:ext cx="279400" cy="2794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23964" y="3041142"/>
            <a:ext cx="4478411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démarche </a:t>
            </a:r>
            <a:r>
              <a:rPr lang="en-US" sz="1400" b="1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transparente</a:t>
            </a:r>
            <a:r>
              <a:rPr lang="en-US" sz="1400" dirty="0">
                <a:solidFill>
                  <a:srgbClr val="1A18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 valeurs inférées et simulées toujours signalées, décisions laissées à l'humain.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812800" y="4299967"/>
            <a:ext cx="10883392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4B3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panne de capteur ne fait plus perdre la visibilité : elle devient un incident expliqué.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r>
              <a:rPr lang="en-US" sz="1200" dirty="0">
                <a:solidFill>
                  <a:srgbClr val="7A77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B38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E4D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PERSPECTIVES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58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après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43708"/>
            <a:ext cx="3403600" cy="1508760"/>
          </a:xfrm>
          <a:prstGeom prst="roundRect">
            <a:avLst>
              <a:gd name="adj" fmla="val 6734"/>
            </a:avLst>
          </a:prstGeom>
          <a:solidFill>
            <a:srgbClr val="3A2AA6"/>
          </a:solidFill>
          <a:ln/>
        </p:spPr>
      </p:sp>
      <p:pic>
        <p:nvPicPr>
          <p:cNvPr id="5" name="Image 0" descr="Light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6000" y="1946908"/>
            <a:ext cx="279400" cy="279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6000" y="2302508"/>
            <a:ext cx="30871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réel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16000" y="2607308"/>
            <a:ext cx="308711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D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brancher directement sur la GTB, au lieu de rejouer l'historique.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94200" y="1743708"/>
            <a:ext cx="3403600" cy="1508760"/>
          </a:xfrm>
          <a:prstGeom prst="roundRect">
            <a:avLst>
              <a:gd name="adj" fmla="val 6734"/>
            </a:avLst>
          </a:prstGeom>
          <a:solidFill>
            <a:srgbClr val="3A2AA6"/>
          </a:solidFill>
          <a:ln/>
        </p:spPr>
      </p:sp>
      <p:pic>
        <p:nvPicPr>
          <p:cNvPr id="9" name="Image 1" descr="Activity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97400" y="1946908"/>
            <a:ext cx="279400" cy="27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400" y="2302508"/>
            <a:ext cx="30871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de capteurs virtuels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597400" y="2607308"/>
            <a:ext cx="308711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D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Étendre le modèle au CO₂, à l'humidité et à l'occupation.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75600" y="1743708"/>
            <a:ext cx="3403600" cy="1508760"/>
          </a:xfrm>
          <a:prstGeom prst="roundRect">
            <a:avLst>
              <a:gd name="adj" fmla="val 6734"/>
            </a:avLst>
          </a:prstGeom>
          <a:solidFill>
            <a:srgbClr val="3A2AA6"/>
          </a:solidFill>
          <a:ln/>
        </p:spPr>
      </p:sp>
      <p:pic>
        <p:nvPicPr>
          <p:cNvPr id="13" name="Image 2" descr="Lightbulb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78800" y="1946908"/>
            <a:ext cx="279400" cy="279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78800" y="2302508"/>
            <a:ext cx="30871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de langage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8178800" y="2607308"/>
            <a:ext cx="308711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D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Activer un LLM pour des rapports et des analyses plus riches.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2800" y="3430265"/>
            <a:ext cx="3403600" cy="1508760"/>
          </a:xfrm>
          <a:prstGeom prst="roundRect">
            <a:avLst>
              <a:gd name="adj" fmla="val 6734"/>
            </a:avLst>
          </a:prstGeom>
          <a:solidFill>
            <a:srgbClr val="3A2AA6"/>
          </a:solidFill>
          <a:ln/>
        </p:spPr>
      </p:sp>
      <p:pic>
        <p:nvPicPr>
          <p:cNvPr id="17" name="Image 3" descr="PaperPlane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6000" y="3633465"/>
            <a:ext cx="279400" cy="279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16000" y="3989065"/>
            <a:ext cx="30871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Alertes réelles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016000" y="4293865"/>
            <a:ext cx="308711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D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Envoi SMTP effectif et nouveaux canaux, comme Teams ou SMS.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94200" y="3430265"/>
            <a:ext cx="3403600" cy="1508760"/>
          </a:xfrm>
          <a:prstGeom prst="roundRect">
            <a:avLst>
              <a:gd name="adj" fmla="val 6734"/>
            </a:avLst>
          </a:prstGeom>
          <a:solidFill>
            <a:srgbClr val="3A2AA6"/>
          </a:solidFill>
          <a:ln/>
        </p:spPr>
      </p:sp>
      <p:pic>
        <p:nvPicPr>
          <p:cNvPr id="21" name="Image 4" descr="ThumbsUp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97400" y="3633465"/>
            <a:ext cx="279400" cy="279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97400" y="3989065"/>
            <a:ext cx="30871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Apprendre des retours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4597400" y="4293865"/>
            <a:ext cx="308711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D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Utiliser les validations des opérateurs pour mieux classer les causes.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975600" y="3430265"/>
            <a:ext cx="3403600" cy="1508760"/>
          </a:xfrm>
          <a:prstGeom prst="roundRect">
            <a:avLst>
              <a:gd name="adj" fmla="val 6734"/>
            </a:avLst>
          </a:prstGeom>
          <a:solidFill>
            <a:srgbClr val="3A2AA6"/>
          </a:solidFill>
          <a:ln/>
        </p:spPr>
      </p:sp>
      <p:pic>
        <p:nvPicPr>
          <p:cNvPr id="25" name="Image 5" descr="Cloud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78800" y="3633465"/>
            <a:ext cx="279400" cy="2794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78800" y="3989065"/>
            <a:ext cx="30871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178800" y="4293865"/>
            <a:ext cx="3087116" cy="46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4D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Conteneuriser la plateforme et l'appliquer à d'autres bâtiments.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12800" y="6238242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D4C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4C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r>
              <a:rPr lang="en-US" sz="1200" dirty="0">
                <a:solidFill>
                  <a:srgbClr val="D4C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5B47D6"/>
          </a:solidFill>
          <a:ln/>
        </p:spPr>
      </p:sp>
      <p:pic>
        <p:nvPicPr>
          <p:cNvPr id="3" name="Image 0" descr="Logo Ghost Sensor : un petit fantôme violet"/>
          <p:cNvPicPr>
            <a:picLocks noChangeAspect="1"/>
          </p:cNvPicPr>
          <p:nvPr/>
        </p:nvPicPr>
        <p:blipFill>
          <a:blip r:embed="rId3">
            <a:alphaModFix amt="90000"/>
          </a:blip>
          <a:srcRect/>
          <a:stretch/>
        </p:blipFill>
        <p:spPr>
          <a:xfrm>
            <a:off x="9220200" y="2159000"/>
            <a:ext cx="1778000" cy="177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17272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B3A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</a:t>
            </a:r>
            <a:endParaRPr lang="en-US" sz="1400" dirty="0"/>
          </a:p>
        </p:txBody>
      </p:sp>
      <p:sp>
        <p:nvSpPr>
          <p:cNvPr id="5" name="Text 2"/>
          <p:cNvSpPr>
            <a:spLocks noGrp="1"/>
          </p:cNvSpPr>
          <p:nvPr>
            <p:ph type="title"/>
          </p:nvPr>
        </p:nvSpPr>
        <p:spPr>
          <a:xfrm>
            <a:off x="812800" y="2179315"/>
            <a:ext cx="78486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de votre attention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12800" y="3982715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0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questions ?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12800" y="6238230"/>
            <a:ext cx="65405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E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Sensor · Soutenance de projet · ESEO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4175"/>
            <a:ext cx="1320800" cy="242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E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r>
              <a:rPr lang="en-US" sz="1200" dirty="0">
                <a:solidFill>
                  <a:srgbClr val="8E8A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host Sensor – Soutenance">
  <a:themeElements>
    <a:clrScheme name="Ghost Sensor – Soutenance">
      <a:dk1>
        <a:srgbClr val="1A1830"/>
      </a:dk1>
      <a:lt1>
        <a:srgbClr val="F6F5FA"/>
      </a:lt1>
      <a:dk2>
        <a:srgbClr val="514F63"/>
      </a:dk2>
      <a:lt2>
        <a:srgbClr val="E0DFE6"/>
      </a:lt2>
      <a:accent1>
        <a:srgbClr val="5B47D6"/>
      </a:accent1>
      <a:accent2>
        <a:srgbClr val="B3A9FF"/>
      </a:accent2>
      <a:accent3>
        <a:srgbClr val="3A2AA6"/>
      </a:accent3>
      <a:accent4>
        <a:srgbClr val="F0A43A"/>
      </a:accent4>
      <a:accent5>
        <a:srgbClr val="B45309"/>
      </a:accent5>
      <a:accent6>
        <a:srgbClr val="4B38C4"/>
      </a:accent6>
      <a:hlink>
        <a:srgbClr val="0563C1"/>
      </a:hlink>
      <a:folHlink>
        <a:srgbClr val="954F72"/>
      </a:folHlink>
    </a:clrScheme>
    <a:fontScheme name="Ghost Sensor – Soutenan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3016</Words>
  <Application>Microsoft Office PowerPoint</Application>
  <PresentationFormat>Grand écran</PresentationFormat>
  <Paragraphs>372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7" baseType="lpstr">
      <vt:lpstr>Arial</vt:lpstr>
      <vt:lpstr>Ghost Sensor – Soutenance</vt:lpstr>
      <vt:lpstr>Ghost Sensor</vt:lpstr>
      <vt:lpstr>Sommaire</vt:lpstr>
      <vt:lpstr>Un bâtiment réel, entièrement instrumenté</vt:lpstr>
      <vt:lpstr>Les capteurs tombent en panne, sans qu'on sache pourquoi</vt:lpstr>
      <vt:lpstr>Quatre objectifs pour une seule plateforme</vt:lpstr>
      <vt:lpstr>Des données brutes aux incidents expliqués</vt:lpstr>
      <vt:lpstr>Les technologies, couche par couche</vt:lpstr>
      <vt:lpstr>Chaque incident suit la même chaîne de quatre agents</vt:lpstr>
      <vt:lpstr>Vue d'ensemble du bâtiment</vt:lpstr>
      <vt:lpstr>Jumeau numérique : la topologie IFC</vt:lpstr>
      <vt:lpstr>Capteurs en direct</vt:lpstr>
      <vt:lpstr>Capteurs fantômes : le relais par ML</vt:lpstr>
      <vt:lpstr>Incidents : la panne du 3 mars 2026</vt:lpstr>
      <vt:lpstr>Centre d'investigation IA</vt:lpstr>
      <vt:lpstr>Rapports et contrôle des données CSV</vt:lpstr>
      <vt:lpstr>Santé du système et assistant</vt:lpstr>
      <vt:lpstr>Cinq workflows n8n</vt:lpstr>
      <vt:lpstr>Workflow A : surveillance des capteurs</vt:lpstr>
      <vt:lpstr>Workflows B, C et D : un agent chacun</vt:lpstr>
      <vt:lpstr>Workflow E et suivi des exécutions</vt:lpstr>
      <vt:lpstr>Une orchestration sûre et robuste</vt:lpstr>
      <vt:lpstr>Une panne simulée, de bout en bout</vt:lpstr>
      <vt:lpstr>Ce que Ghost Sensor apporte</vt:lpstr>
      <vt:lpstr>Et après ?</vt:lpstr>
      <vt:lpstr>Merci de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Ghost Sensor – Soutenance</dc:title>
  <dc:subject/>
  <dc:creator/>
  <cp:lastModifiedBy>Ghassen Kahia</cp:lastModifiedBy>
  <cp:revision>3</cp:revision>
  <dcterms:created xsi:type="dcterms:W3CDTF">2026-10-14T01:14:14Z</dcterms:created>
  <dcterms:modified xsi:type="dcterms:W3CDTF">2026-10-14T06:47:47Z</dcterms:modified>
</cp:coreProperties>
</file>